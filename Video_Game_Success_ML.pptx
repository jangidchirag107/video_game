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2F10-365B-AFC0-705F-3B578DDDE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8E0EB-794F-48BA-73B0-64D8B78DD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64D6-A377-25CB-285D-937AFAE3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65C0-8D8F-F0C7-838B-EFA7E990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0B0F-2C45-7D2C-B216-A15B40B9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3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B25B-41B3-8710-6D63-B7D03706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D2A8-C14B-487B-610D-EC4E584FB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41F76-3366-E449-6DFA-30DB3D12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CE1F-5A87-F77D-302F-A4DCFC31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A4B8C-806D-6EA3-1A78-7865966C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2CE6-EE8A-723A-A7BB-7B5E2ED3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772A9-0C4B-835D-600C-04831F07C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7DA9B-CFE6-984E-98DE-FA2ED03B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EA39-AA68-41B8-8FA7-7503E89A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FC5C0-4C49-2233-367F-E3C01ACB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64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213F-F354-FD85-2543-036A6C9B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4A9A-CFDD-2DE0-3F94-0E1BFC854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7F57B-CFA4-67E2-7690-F10A64523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B6A86-60E7-A58E-4B6D-F26E739D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028E4-38B6-7EBC-7E6E-5AFF2F9A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D47B4-7520-2849-AEA7-D5FE05DF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9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ACE7-6BF2-56C7-D4C0-208823D0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97B5F-E6EA-97A9-00E2-31B3C8C41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4800B-DE02-4AC3-C3C7-EBCB200EB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3CC37-5642-F176-C4DD-599A17D7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8E819-8339-8940-E9B4-7D96F3DE0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838C0-D56E-92A6-711C-6DE2F816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BEFCA-96DE-DE1C-7107-45BB8975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E8E34-7CEA-D0F7-55B9-51F244D5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48B8-7CA8-0D5B-5BA4-64805B65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2EA89-CD77-7FEF-5D2F-BD5F6B0B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233BB-A0C1-964E-9E5E-06253F84B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88370-98F5-D1E0-21EE-F8879605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3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0DEE8-D05E-3600-0D7C-B6855B50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C75CC-77B9-9B26-66EA-CB493D18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A0EB2-00EA-2978-336B-C2588DA3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1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F74B-0340-8D43-5BE0-F69F274F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B862-3503-02B9-38B1-DFC7AD72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7F23-9552-A3A7-7890-8C24C1F87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E4618-321D-A7C4-5CD6-FE5A9510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4484F-4B2D-4C96-A634-995DE15D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ED67A-2BEE-1682-3D2F-67941ADC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33E0-92C9-3CBC-F8E5-6C3CD56B3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DD0E0-05BF-C269-E959-1D17D1DE3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60FBE-0154-9816-F8B3-40E252661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B5830-CBAF-5027-CA96-97F6282B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CED83-BF33-7936-248B-BA96532A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5AD4-F223-75CA-A53B-E91151FD9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2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479F-4FB4-8880-B9DD-5132A473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BE156-9B38-A3E8-94F7-E023EA538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FDD8-AC59-B2C0-A368-A2A07614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0DBD7-F977-BC52-E4AF-41729CD6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285C-8FBD-C910-A4AE-CBD83B51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3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37665-9515-3FEC-DB71-CE9F9DD6B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4C69C-2C3F-2425-EB11-51C316DFC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2211-0993-D280-B0AB-058FBDAD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B6B78-88B2-C17B-F30A-183EA58F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9C339-6E80-A7CD-586F-F9DCBF1F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4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C64AF-2F5D-C351-5C7E-9BD81047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C7BB7-807D-7BFF-DA1C-C1F09AD15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557F8-A197-A942-975B-558AFABA5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24556-FE37-9517-F03C-6F50079C4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B7145-5FC8-DD82-4426-FD5CEE68C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6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700">
                <a:solidFill>
                  <a:schemeClr val="tx2"/>
                </a:solidFill>
              </a:rPr>
              <a:t>Predicting Video Game Success using 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Machine Learning Final Project</a:t>
            </a:r>
          </a:p>
          <a:p>
            <a:pPr algn="l"/>
            <a:r>
              <a:rPr lang="en-US" sz="1700">
                <a:solidFill>
                  <a:schemeClr val="tx2"/>
                </a:solidFill>
              </a:rPr>
              <a:t>Logistic Regression Model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28402F5-E9B3-BFA3-8CB0-167387EE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Video games are a multi-billion dollar industry</a:t>
            </a:r>
          </a:p>
          <a:p>
            <a:pPr lvl="1"/>
            <a:r>
              <a:rPr lang="en-US" sz="1700"/>
              <a:t>Predicting success helps developers and publishers</a:t>
            </a:r>
          </a:p>
          <a:p>
            <a:pPr lvl="1"/>
            <a:r>
              <a:rPr lang="en-US" sz="1700"/>
              <a:t>Machine Learning enables data-driven decisions</a:t>
            </a:r>
          </a:p>
        </p:txBody>
      </p:sp>
      <p:pic>
        <p:nvPicPr>
          <p:cNvPr id="5" name="Picture 4" descr="Neon Coloured Gadgets">
            <a:extLst>
              <a:ext uri="{FF2B5EF4-FFF2-40B4-BE49-F238E27FC236}">
                <a16:creationId xmlns:a16="http://schemas.microsoft.com/office/drawing/2014/main" id="{26135565-A7D5-77E4-828E-A6EFB145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34" r="4038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Use ML to predict whether a game will be successful</a:t>
            </a:r>
          </a:p>
          <a:p>
            <a:pPr lvl="1"/>
            <a:r>
              <a:rPr lang="en-US" sz="1700"/>
              <a:t>Leverage historical video game data</a:t>
            </a:r>
          </a:p>
          <a:p>
            <a:pPr lvl="1"/>
            <a:r>
              <a:rPr lang="en-US" sz="1700"/>
              <a:t>Provide insights for future game development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9C02FE32-DC13-30C5-A0B5-4E9921426F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4" r="26732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Game success is uncertain and risky</a:t>
            </a:r>
          </a:p>
          <a:p>
            <a:pPr lvl="1"/>
            <a:r>
              <a:rPr lang="en-US" sz="1700"/>
              <a:t>Traditional methods rely on intuition</a:t>
            </a:r>
          </a:p>
          <a:p>
            <a:pPr lvl="1"/>
            <a:r>
              <a:rPr lang="en-US" sz="1700"/>
              <a:t>Need a predictive ML-based solution</a:t>
            </a:r>
          </a:p>
        </p:txBody>
      </p:sp>
      <p:pic>
        <p:nvPicPr>
          <p:cNvPr id="13" name="Picture 12" descr="Close-up of chess pieces on a chessboard">
            <a:extLst>
              <a:ext uri="{FF2B5EF4-FFF2-40B4-BE49-F238E27FC236}">
                <a16:creationId xmlns:a16="http://schemas.microsoft.com/office/drawing/2014/main" id="{75200223-C80B-ECB6-6594-BC5DF27E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92" r="17325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Analyze video game dataset</a:t>
            </a:r>
          </a:p>
          <a:p>
            <a:pPr lvl="1"/>
            <a:r>
              <a:rPr lang="en-US" sz="1700"/>
              <a:t>Preprocess and explore data</a:t>
            </a:r>
          </a:p>
          <a:p>
            <a:pPr lvl="1"/>
            <a:r>
              <a:rPr lang="en-US" sz="1700"/>
              <a:t>Train ML model to predict success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BF6E400F-B56A-6C0F-1B10-020095B6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2" r="363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Binary classification problem</a:t>
            </a:r>
          </a:p>
          <a:p>
            <a:pPr lvl="1"/>
            <a:r>
              <a:rPr lang="en-US" sz="1700"/>
              <a:t>Focus on structured numerical &amp; categorical data</a:t>
            </a:r>
          </a:p>
          <a:p>
            <a:pPr lvl="1"/>
            <a:r>
              <a:rPr lang="en-US" sz="1700"/>
              <a:t>Logistic Regression model</a:t>
            </a: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CEF18232-2B8A-2C48-D53A-163BE9E0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97" r="22752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95C4E-BA3C-BA67-5E28-B8918E95A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62" r="4528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IN" sz="350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en-US" sz="1700"/>
              <a:t>Source: Video Game Sales Dataset</a:t>
            </a:r>
          </a:p>
          <a:p>
            <a:pPr lvl="1"/>
            <a:r>
              <a:rPr lang="en-US" sz="1700"/>
              <a:t>Features include sales, ratings, platform</a:t>
            </a:r>
          </a:p>
          <a:p>
            <a:pPr lvl="1"/>
            <a:r>
              <a:rPr lang="en-US" sz="1700"/>
              <a:t>Target variable: Success (Hit / Not Hit)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Handled missing values</a:t>
            </a:r>
          </a:p>
          <a:p>
            <a:pPr lvl="1"/>
            <a:r>
              <a:rPr lang="en-US" sz="1700"/>
              <a:t>Encoded categorical features</a:t>
            </a:r>
          </a:p>
          <a:p>
            <a:pPr lvl="1"/>
            <a:r>
              <a:rPr lang="en-US" sz="1700"/>
              <a:t>Feature scaling applied</a:t>
            </a:r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A13780FE-80AE-4468-2233-24D6FBA0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96" r="29392" b="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Sales distribution analysis</a:t>
            </a:r>
          </a:p>
          <a:p>
            <a:pPr lvl="1"/>
            <a:r>
              <a:rPr lang="en-US" sz="1700"/>
              <a:t>Platform vs success trends</a:t>
            </a:r>
          </a:p>
          <a:p>
            <a:pPr lvl="1"/>
            <a:r>
              <a:rPr lang="en-US" sz="1700"/>
              <a:t>Correlation between features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70008A05-3C8D-C1DC-06C2-8A9931102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ML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Logistic Regression chosen</a:t>
            </a:r>
          </a:p>
          <a:p>
            <a:pPr lvl="1"/>
            <a:r>
              <a:rPr lang="en-US" sz="1700"/>
              <a:t>Simple, interpretable, efficient</a:t>
            </a:r>
          </a:p>
          <a:p>
            <a:pPr lvl="1"/>
            <a:r>
              <a:rPr lang="en-US" sz="1700"/>
              <a:t>Well-suited for binary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9D1CC-F8AE-7C3C-DA39-A4EDABFB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35" r="2942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Data split into training &amp; testing sets</a:t>
            </a:r>
          </a:p>
          <a:p>
            <a:pPr lvl="1"/>
            <a:r>
              <a:rPr lang="en-US" sz="1700"/>
              <a:t>Model trained on training data</a:t>
            </a:r>
          </a:p>
          <a:p>
            <a:pPr lvl="1"/>
            <a:r>
              <a:rPr lang="en-US" sz="1700"/>
              <a:t>Evaluated using test data</a:t>
            </a:r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FD963914-BBF3-4C5B-A91E-5F533E4FB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8" r="3593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Accuracy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Accuracy measures overall correctness</a:t>
            </a:r>
          </a:p>
          <a:p>
            <a:pPr lvl="1"/>
            <a:r>
              <a:rPr lang="en-US" sz="1700"/>
              <a:t>Model achieved strong performance</a:t>
            </a:r>
          </a:p>
          <a:p>
            <a:pPr lvl="1"/>
            <a:r>
              <a:rPr lang="en-US" sz="1700"/>
              <a:t>Indicates reliable predictions</a:t>
            </a:r>
          </a:p>
        </p:txBody>
      </p:sp>
      <p:pic>
        <p:nvPicPr>
          <p:cNvPr id="5" name="Picture 4" descr="Close-up photo of wooden rulers">
            <a:extLst>
              <a:ext uri="{FF2B5EF4-FFF2-40B4-BE49-F238E27FC236}">
                <a16:creationId xmlns:a16="http://schemas.microsoft.com/office/drawing/2014/main" id="{E4DDA252-C212-C227-704C-5598D0A2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16" r="22201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Shows TP, FP, TN, FN</a:t>
            </a:r>
          </a:p>
          <a:p>
            <a:pPr lvl="1"/>
            <a:r>
              <a:rPr lang="en-US" sz="1700"/>
              <a:t>Helps understand classification errors</a:t>
            </a:r>
          </a:p>
          <a:p>
            <a:pPr lvl="1"/>
            <a:r>
              <a:rPr lang="en-US" sz="1700"/>
              <a:t>Balanced performance observed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2A57FF2C-92CF-B560-2CBD-BD6A55C01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66" r="37433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Plots True Positive Rate vs False Positive Rate</a:t>
            </a:r>
          </a:p>
          <a:p>
            <a:pPr lvl="1"/>
            <a:r>
              <a:rPr lang="en-US" sz="1700"/>
              <a:t>Evaluates model discrimination ability</a:t>
            </a:r>
          </a:p>
        </p:txBody>
      </p:sp>
      <p:pic>
        <p:nvPicPr>
          <p:cNvPr id="5" name="Picture 4" descr="White stairs with a blue arrow drawn in the middle pointing upwards">
            <a:extLst>
              <a:ext uri="{FF2B5EF4-FFF2-40B4-BE49-F238E27FC236}">
                <a16:creationId xmlns:a16="http://schemas.microsoft.com/office/drawing/2014/main" id="{4232C95B-DDA9-88BA-9B23-2B7A74CD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45" r="29511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283714"/>
            <a:ext cx="7430100" cy="1161688"/>
          </a:xfrm>
        </p:spPr>
        <p:txBody>
          <a:bodyPr anchor="ctr">
            <a:normAutofit/>
          </a:bodyPr>
          <a:lstStyle/>
          <a:p>
            <a:r>
              <a:rPr lang="en-IN" sz="3500"/>
              <a:t>ROC-AUC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170" y="2217761"/>
            <a:ext cx="5760720" cy="4034116"/>
          </a:xfrm>
        </p:spPr>
        <p:txBody>
          <a:bodyPr anchor="ctr">
            <a:normAutofit/>
          </a:bodyPr>
          <a:lstStyle/>
          <a:p>
            <a:r>
              <a:rPr lang="en-US" sz="1700"/>
              <a:t>Area Under ROC Curve</a:t>
            </a:r>
          </a:p>
          <a:p>
            <a:pPr lvl="1"/>
            <a:r>
              <a:rPr lang="en-US" sz="1700"/>
              <a:t>Higher AUC = better model</a:t>
            </a:r>
          </a:p>
          <a:p>
            <a:pPr lvl="1"/>
            <a:r>
              <a:rPr lang="en-US" sz="1700"/>
              <a:t>Model shows good separability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/>
              <a:t>predict_proba()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Returns probability estimates</a:t>
            </a:r>
          </a:p>
          <a:p>
            <a:pPr lvl="1"/>
            <a:r>
              <a:rPr lang="en-US" sz="1700"/>
              <a:t>Useful for confidence-based decisions</a:t>
            </a:r>
          </a:p>
          <a:p>
            <a:pPr lvl="1"/>
            <a:r>
              <a:rPr lang="en-US" sz="1700"/>
              <a:t>Not just class labels</a:t>
            </a:r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C63CC9EF-DC0C-5B2C-9157-ADBDC95E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39" r="3358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White arrows going to the red target">
            <a:extLst>
              <a:ext uri="{FF2B5EF4-FFF2-40B4-BE49-F238E27FC236}">
                <a16:creationId xmlns:a16="http://schemas.microsoft.com/office/drawing/2014/main" id="{EA918901-CC5F-F027-7ED9-70AFAE9125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10" r="12495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Certain features strongly influence success</a:t>
            </a:r>
          </a:p>
          <a:p>
            <a:pPr lvl="1"/>
            <a:r>
              <a:rPr lang="en-US" sz="1700"/>
              <a:t>ML can assist decision-making</a:t>
            </a:r>
          </a:p>
          <a:p>
            <a:pPr lvl="1"/>
            <a:r>
              <a:rPr lang="en-US" sz="1700"/>
              <a:t>Model generalizes well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B87BB7-D3FD-07F4-A02A-A07F2DA9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95" r="29360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ML effectively predicts game success</a:t>
            </a:r>
          </a:p>
          <a:p>
            <a:pPr lvl="1"/>
            <a:r>
              <a:rPr lang="en-US" sz="1700"/>
              <a:t>Future: try advanced models</a:t>
            </a:r>
          </a:p>
          <a:p>
            <a:pPr lvl="1"/>
            <a:r>
              <a:rPr lang="en-US" sz="1700"/>
              <a:t>Include more features &amp;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293</Words>
  <Application>Microsoft Office PowerPoint</Application>
  <PresentationFormat>On-screen Show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Predicting Video Game Success using ML</vt:lpstr>
      <vt:lpstr>Introduction</vt:lpstr>
      <vt:lpstr>Project Vision</vt:lpstr>
      <vt:lpstr>Problem Statement</vt:lpstr>
      <vt:lpstr>Objectives</vt:lpstr>
      <vt:lpstr>Project Scope</vt:lpstr>
      <vt:lpstr>Dataset Overview</vt:lpstr>
      <vt:lpstr>Data Preprocessing</vt:lpstr>
      <vt:lpstr>Exploratory Data Analysis</vt:lpstr>
      <vt:lpstr>ML Approach</vt:lpstr>
      <vt:lpstr>Model Training</vt:lpstr>
      <vt:lpstr>Accuracy Score</vt:lpstr>
      <vt:lpstr>Confusion Matrix</vt:lpstr>
      <vt:lpstr>ROC Curve</vt:lpstr>
      <vt:lpstr>ROC-AUC Score</vt:lpstr>
      <vt:lpstr>predict_proba() Explanation</vt:lpstr>
      <vt:lpstr>Results &amp; Insights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QSK1184</cp:lastModifiedBy>
  <cp:revision>2</cp:revision>
  <dcterms:created xsi:type="dcterms:W3CDTF">2013-01-27T09:14:16Z</dcterms:created>
  <dcterms:modified xsi:type="dcterms:W3CDTF">2025-12-18T07:57:54Z</dcterms:modified>
  <cp:category/>
</cp:coreProperties>
</file>